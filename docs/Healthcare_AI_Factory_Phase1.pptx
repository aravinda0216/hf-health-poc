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the data engine and the API engine only. The interpreter, blueprint engine, orchestrator and infra engine are separate work and are replaced by one sample blueprint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come from the last make demo and make demo-full runs. 819,735 rows at 50,000 members; 29 of 29 rules pass; 62 contract tests; 24 of 24 smoke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s6 runs after s5 because transition-of-care rows and rule R-10 need claims. The spec lists s6 as parallel with s4.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OpenAPI 3.1, base path /v1. The tool manifest copies each route's escalate and never rules so agent builders get the guardrails with the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test and make demo both rebuild a dataset, so they take a few seconds. If tests fail with an unexpected keyword argument app, upgrade fastapi, starlette and httpx.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Scope and assumptions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What Phase 1 covers, what is stubbed, and what we assumed along the way</a:t>
            </a:r>
            <a:endParaRPr lang="en-US" sz="1400" dirty="0"/>
          </a:p>
        </p:txBody>
      </p:sp>
      <p:sp>
        <p:nvSpPr>
          <p:cNvPr id="5" name="Card in scope"/>
          <p:cNvSpPr/>
          <p:nvPr/>
        </p:nvSpPr>
        <p:spPr>
          <a:xfrm>
            <a:off x="457200" y="1371600"/>
            <a:ext cx="38404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Badge scope"/>
          <p:cNvSpPr txBox="1"/>
          <p:nvPr/>
        </p:nvSpPr>
        <p:spPr>
          <a:xfrm>
            <a:off x="640080" y="15087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5087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 scope</a:t>
            </a:r>
            <a:endParaRPr lang="en-US" sz="1800" dirty="0"/>
          </a:p>
        </p:txBody>
      </p:sp>
      <p:sp>
        <p:nvSpPr>
          <p:cNvPr id="8" name="In scope list"/>
          <p:cNvSpPr txBox="1"/>
          <p:nvPr/>
        </p:nvSpPr>
        <p:spPr>
          <a:xfrm>
            <a:off x="640080" y="1965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engine and API engine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S1: provider-facing, Medicare Advantage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use cases, 24 test scenarios</a:t>
            </a:r>
            <a:endParaRPr lang="en-US" sz="1400" dirty="0"/>
          </a:p>
        </p:txBody>
      </p:sp>
      <p:sp>
        <p:nvSpPr>
          <p:cNvPr id="9" name="Card stubbed"/>
          <p:cNvSpPr/>
          <p:nvPr/>
        </p:nvSpPr>
        <p:spPr>
          <a:xfrm>
            <a:off x="457200" y="3108960"/>
            <a:ext cx="38404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Badge stubbed"/>
          <p:cNvSpPr txBox="1"/>
          <p:nvPr/>
        </p:nvSpPr>
        <p:spPr>
          <a:xfrm>
            <a:off x="640080" y="32461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2461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Stubbed or later</a:t>
            </a:r>
            <a:endParaRPr lang="en-US" sz="1800" dirty="0"/>
          </a:p>
        </p:txBody>
      </p:sp>
      <p:sp>
        <p:nvSpPr>
          <p:cNvPr id="12" name="Stubbed list"/>
          <p:cNvSpPr txBox="1"/>
          <p:nvPr/>
        </p:nvSpPr>
        <p:spPr>
          <a:xfrm>
            <a:off x="640080" y="3703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Upstream stages: sample blueprint JSON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GCP infrastructure: later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Member-facing use cases: later</a:t>
            </a:r>
            <a:endParaRPr lang="en-US" sz="1400" dirty="0"/>
          </a:p>
        </p:txBody>
      </p:sp>
      <p:sp>
        <p:nvSpPr>
          <p:cNvPr id="13" name="Card assumptions"/>
          <p:cNvSpPr/>
          <p:nvPr/>
        </p:nvSpPr>
        <p:spPr>
          <a:xfrm>
            <a:off x="4526280" y="1371600"/>
            <a:ext cx="41605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Badge assumptions"/>
          <p:cNvSpPr txBox="1"/>
          <p:nvPr/>
        </p:nvSpPr>
        <p:spPr>
          <a:xfrm>
            <a:off x="4709160" y="150876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166360" y="1508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Assumptions</a:t>
            </a:r>
            <a:endParaRPr lang="en-US" sz="1800" dirty="0"/>
          </a:p>
        </p:txBody>
      </p:sp>
      <p:sp>
        <p:nvSpPr>
          <p:cNvPr id="16" name="Assumptions list"/>
          <p:cNvSpPr txBox="1"/>
          <p:nvPr/>
        </p:nvSpPr>
        <p:spPr>
          <a:xfrm>
            <a:off x="4709160" y="1965960"/>
            <a:ext cx="3794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SQLite for v1; GCP databases later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Templated text, no LLM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 at 1,000 members, then scaled to 50,000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Fixed seed 20261012, as-of date 2026-10-12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data synthetic: reserved phone, email, NPI and TIN formats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Appeal deadline 90 days and decision 30 days: confirm with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Phase 1 results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check passes at 1,000 and at 50,000 members; a full 50K build takes about 30 seconds</a:t>
            </a:r>
            <a:endParaRPr lang="en-US" sz="1400" dirty="0"/>
          </a:p>
        </p:txBody>
      </p:sp>
      <p:sp>
        <p:nvSpPr>
          <p:cNvPr id="5" name="Stat card 1"/>
          <p:cNvSpPr/>
          <p:nvPr/>
        </p:nvSpPr>
        <p:spPr>
          <a:xfrm>
            <a:off x="457200" y="137160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1463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use cases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Claims, authorizations, eligibility, appeals, payments, onboarding</a:t>
            </a:r>
            <a:endParaRPr lang="en-US" sz="1200" dirty="0"/>
          </a:p>
        </p:txBody>
      </p:sp>
      <p:sp>
        <p:nvSpPr>
          <p:cNvPr id="9" name="Stat card 2"/>
          <p:cNvSpPr/>
          <p:nvPr/>
        </p:nvSpPr>
        <p:spPr>
          <a:xfrm>
            <a:off x="3268980" y="137160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186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686300" y="1463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 scenarios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518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Four seeded stories per use case</a:t>
            </a:r>
            <a:endParaRPr lang="en-US" sz="1200" dirty="0"/>
          </a:p>
        </p:txBody>
      </p:sp>
      <p:sp>
        <p:nvSpPr>
          <p:cNvPr id="13" name="Stat card 3"/>
          <p:cNvSpPr/>
          <p:nvPr/>
        </p:nvSpPr>
        <p:spPr>
          <a:xfrm>
            <a:off x="6080760" y="137160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1463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API endpoints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also published as an agent tool</a:t>
            </a:r>
            <a:endParaRPr lang="en-US" sz="1200" dirty="0"/>
          </a:p>
        </p:txBody>
      </p:sp>
      <p:sp>
        <p:nvSpPr>
          <p:cNvPr id="17" name="Stat card 4"/>
          <p:cNvSpPr/>
          <p:nvPr/>
        </p:nvSpPr>
        <p:spPr>
          <a:xfrm>
            <a:off x="45720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1874520" y="28803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rules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passing, plus a privacy scan</a:t>
            </a:r>
            <a:endParaRPr lang="en-US" sz="1200" dirty="0"/>
          </a:p>
        </p:txBody>
      </p:sp>
      <p:sp>
        <p:nvSpPr>
          <p:cNvPr id="21" name="Stat card 5"/>
          <p:cNvSpPr/>
          <p:nvPr/>
        </p:nvSpPr>
        <p:spPr>
          <a:xfrm>
            <a:off x="326898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5186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820K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4686300" y="28803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rows at 50K members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4518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35 tables, built in about 30 seconds</a:t>
            </a:r>
            <a:endParaRPr lang="en-US" sz="1200" dirty="0"/>
          </a:p>
        </p:txBody>
      </p:sp>
      <p:sp>
        <p:nvSpPr>
          <p:cNvPr id="25" name="Stat card 6"/>
          <p:cNvSpPr/>
          <p:nvPr/>
        </p:nvSpPr>
        <p:spPr>
          <a:xfrm>
            <a:off x="608076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6364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40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28803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contract tests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Plus all 24 smoke scenarios passing</a:t>
            </a:r>
            <a:endParaRPr lang="en-US" sz="1200" dirty="0"/>
          </a:p>
        </p:txBody>
      </p:sp>
      <p:sp>
        <p:nvSpPr>
          <p:cNvPr id="29" name="Next strip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Next: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member-facing use cases, other lines of business, X12 and FHIR export, GCP loaders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engine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row is a pure function of the seed, so any run can be replayed exactly</a:t>
            </a:r>
            <a:endParaRPr lang="en-US" sz="1400" dirty="0"/>
          </a:p>
        </p:txBody>
      </p:sp>
      <p:sp>
        <p:nvSpPr>
          <p:cNvPr id="5" name="Stage card s3"/>
          <p:cNvSpPr/>
          <p:nvPr/>
        </p:nvSpPr>
        <p:spPr>
          <a:xfrm>
            <a:off x="457200" y="137160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tage badge s3"/>
          <p:cNvSpPr txBox="1"/>
          <p:nvPr/>
        </p:nvSpPr>
        <p:spPr>
          <a:xfrm>
            <a:off x="566928" y="1481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93852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Reference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258568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Plans, providers, networks, locations, code tables</a:t>
            </a:r>
            <a:endParaRPr lang="en-US" sz="1200" dirty="0"/>
          </a:p>
        </p:txBody>
      </p:sp>
      <p:sp>
        <p:nvSpPr>
          <p:cNvPr id="9" name="Stage arrow 1"/>
          <p:cNvSpPr/>
          <p:nvPr/>
        </p:nvSpPr>
        <p:spPr>
          <a:xfrm>
            <a:off x="1947672" y="2263140"/>
            <a:ext cx="17373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tage card s4"/>
          <p:cNvSpPr/>
          <p:nvPr/>
        </p:nvSpPr>
        <p:spPr>
          <a:xfrm>
            <a:off x="2148840" y="137160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Stage badge s4"/>
          <p:cNvSpPr txBox="1"/>
          <p:nvPr/>
        </p:nvSpPr>
        <p:spPr>
          <a:xfrm>
            <a:off x="2258568" y="1481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s4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258568" y="193852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Members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258568" y="2258568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Members, caregivers, enrollment, PCPs, risk, care gaps</a:t>
            </a:r>
            <a:endParaRPr lang="en-US" sz="1200" dirty="0"/>
          </a:p>
        </p:txBody>
      </p:sp>
      <p:sp>
        <p:nvSpPr>
          <p:cNvPr id="14" name="Stage arrow 2"/>
          <p:cNvSpPr/>
          <p:nvPr/>
        </p:nvSpPr>
        <p:spPr>
          <a:xfrm>
            <a:off x="3639312" y="2263140"/>
            <a:ext cx="17373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tage card s5"/>
          <p:cNvSpPr/>
          <p:nvPr/>
        </p:nvSpPr>
        <p:spPr>
          <a:xfrm>
            <a:off x="3840480" y="137160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tage badge s5"/>
          <p:cNvSpPr txBox="1"/>
          <p:nvPr/>
        </p:nvSpPr>
        <p:spPr>
          <a:xfrm>
            <a:off x="3950208" y="1481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s5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950208" y="193852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Claims and auth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950208" y="2258568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Authorizations, claims, appeals, payments, scenarios</a:t>
            </a:r>
            <a:endParaRPr lang="en-US" sz="1200" dirty="0"/>
          </a:p>
        </p:txBody>
      </p:sp>
      <p:sp>
        <p:nvSpPr>
          <p:cNvPr id="19" name="Stage arrow 3"/>
          <p:cNvSpPr/>
          <p:nvPr/>
        </p:nvSpPr>
        <p:spPr>
          <a:xfrm>
            <a:off x="5330952" y="2263140"/>
            <a:ext cx="17373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tage card s6"/>
          <p:cNvSpPr/>
          <p:nvPr/>
        </p:nvSpPr>
        <p:spPr>
          <a:xfrm>
            <a:off x="5532120" y="137160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Stage badge s6"/>
          <p:cNvSpPr txBox="1"/>
          <p:nvPr/>
        </p:nvSpPr>
        <p:spPr>
          <a:xfrm>
            <a:off x="5641848" y="1481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641848" y="193852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Knowledge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41848" y="2258568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Manuals, policies, FAQs, SOPs, golden Q&amp;A, care cases</a:t>
            </a:r>
            <a:endParaRPr lang="en-US" sz="1200" dirty="0"/>
          </a:p>
        </p:txBody>
      </p:sp>
      <p:sp>
        <p:nvSpPr>
          <p:cNvPr id="24" name="Stage arrow 4"/>
          <p:cNvSpPr/>
          <p:nvPr/>
        </p:nvSpPr>
        <p:spPr>
          <a:xfrm>
            <a:off x="7022592" y="2263140"/>
            <a:ext cx="17373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Stage card s7"/>
          <p:cNvSpPr/>
          <p:nvPr/>
        </p:nvSpPr>
        <p:spPr>
          <a:xfrm>
            <a:off x="7223760" y="137160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Stage badge s7"/>
          <p:cNvSpPr txBox="1"/>
          <p:nvPr/>
        </p:nvSpPr>
        <p:spPr>
          <a:xfrm>
            <a:off x="7333488" y="148132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s7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333488" y="193852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333488" y="2258568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29 rules, privacy scan, checksums, manifest</a:t>
            </a:r>
            <a:endParaRPr lang="en-US" sz="1200" dirty="0"/>
          </a:p>
        </p:txBody>
      </p:sp>
      <p:sp>
        <p:nvSpPr>
          <p:cNvPr id="29" name="Property card 1"/>
          <p:cNvSpPr/>
          <p:nvPr/>
        </p:nvSpPr>
        <p:spPr>
          <a:xfrm>
            <a:off x="457200" y="33375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3447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Deterministic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Seed, stage, entity and row number drive every value. No clock, no worker effects</a:t>
            </a:r>
            <a:endParaRPr lang="en-US" sz="1400" dirty="0"/>
          </a:p>
        </p:txBody>
      </p:sp>
      <p:sp>
        <p:nvSpPr>
          <p:cNvPr id="32" name="Property card 2"/>
          <p:cNvSpPr/>
          <p:nvPr/>
        </p:nvSpPr>
        <p:spPr>
          <a:xfrm>
            <a:off x="3268980" y="33375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51860" y="3447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Validated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345186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29 rules on links, dates, money and policy, plus per-table checksums</a:t>
            </a:r>
            <a:endParaRPr lang="en-US" sz="1400" dirty="0"/>
          </a:p>
        </p:txBody>
      </p:sp>
      <p:sp>
        <p:nvSpPr>
          <p:cNvPr id="35" name="Property card 3"/>
          <p:cNvSpPr/>
          <p:nvPr/>
        </p:nvSpPr>
        <p:spPr>
          <a:xfrm>
            <a:off x="6080760" y="33375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263640" y="34472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Repeatable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263640" y="3794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Replay matches, a new seed differs, 20% more members keeps earlier rows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API engine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FastAPI service over the synthetic data, built for voice and chat agent testing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Common</a:t>
            </a:r>
            <a:endParaRPr lang="en-US" sz="1200" dirty="0"/>
          </a:p>
        </p:txBody>
      </p:sp>
      <p:sp>
        <p:nvSpPr>
          <p:cNvPr id="6" name="Endpoint Common 1"/>
          <p:cNvSpPr txBox="1"/>
          <p:nvPr/>
        </p:nvSpPr>
        <p:spPr>
          <a:xfrm>
            <a:off x="1280160" y="13716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Verify identity</a:t>
            </a:r>
            <a:endParaRPr lang="en-US" sz="1200" dirty="0"/>
          </a:p>
        </p:txBody>
      </p:sp>
      <p:sp>
        <p:nvSpPr>
          <p:cNvPr id="7" name="Endpoint Common 2"/>
          <p:cNvSpPr txBox="1"/>
          <p:nvPr/>
        </p:nvSpPr>
        <p:spPr>
          <a:xfrm>
            <a:off x="3154680" y="13716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Search knowledge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28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PCS</a:t>
            </a:r>
            <a:endParaRPr lang="en-US" sz="1200" dirty="0"/>
          </a:p>
        </p:txBody>
      </p:sp>
      <p:sp>
        <p:nvSpPr>
          <p:cNvPr id="9" name="Endpoint PCS 1"/>
          <p:cNvSpPr txBox="1"/>
          <p:nvPr/>
        </p:nvSpPr>
        <p:spPr>
          <a:xfrm>
            <a:off x="1280160" y="18288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Claim status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2860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PAS</a:t>
            </a:r>
            <a:endParaRPr lang="en-US" sz="1200" dirty="0"/>
          </a:p>
        </p:txBody>
      </p:sp>
      <p:sp>
        <p:nvSpPr>
          <p:cNvPr id="11" name="Endpoint PAS 1"/>
          <p:cNvSpPr txBox="1"/>
          <p:nvPr/>
        </p:nvSpPr>
        <p:spPr>
          <a:xfrm>
            <a:off x="1280160" y="22860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Authorization status</a:t>
            </a:r>
            <a:endParaRPr lang="en-US" sz="1200" dirty="0"/>
          </a:p>
        </p:txBody>
      </p:sp>
      <p:sp>
        <p:nvSpPr>
          <p:cNvPr id="12" name="Endpoint PAS 2"/>
          <p:cNvSpPr txBox="1"/>
          <p:nvPr/>
        </p:nvSpPr>
        <p:spPr>
          <a:xfrm>
            <a:off x="3154680" y="22860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Submit document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743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PEV</a:t>
            </a:r>
            <a:endParaRPr lang="en-US" sz="1200" dirty="0"/>
          </a:p>
        </p:txBody>
      </p:sp>
      <p:sp>
        <p:nvSpPr>
          <p:cNvPr id="14" name="Endpoint PEV 1"/>
          <p:cNvSpPr txBox="1"/>
          <p:nvPr/>
        </p:nvSpPr>
        <p:spPr>
          <a:xfrm>
            <a:off x="1280160" y="27432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Eligibility check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2004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PAP</a:t>
            </a:r>
            <a:endParaRPr lang="en-US" sz="1200" dirty="0"/>
          </a:p>
        </p:txBody>
      </p:sp>
      <p:sp>
        <p:nvSpPr>
          <p:cNvPr id="16" name="Endpoint PAP 1"/>
          <p:cNvSpPr txBox="1"/>
          <p:nvPr/>
        </p:nvSpPr>
        <p:spPr>
          <a:xfrm>
            <a:off x="1280160" y="32004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File appeal</a:t>
            </a:r>
            <a:endParaRPr lang="en-US" sz="1200" dirty="0"/>
          </a:p>
        </p:txBody>
      </p:sp>
      <p:sp>
        <p:nvSpPr>
          <p:cNvPr id="17" name="Endpoint PAP 2"/>
          <p:cNvSpPr txBox="1"/>
          <p:nvPr/>
        </p:nvSpPr>
        <p:spPr>
          <a:xfrm>
            <a:off x="3154680" y="32004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Appeal status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6576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PPI</a:t>
            </a:r>
            <a:endParaRPr lang="en-US" sz="1200" dirty="0"/>
          </a:p>
        </p:txBody>
      </p:sp>
      <p:sp>
        <p:nvSpPr>
          <p:cNvPr id="19" name="Endpoint PPI 1"/>
          <p:cNvSpPr txBox="1"/>
          <p:nvPr/>
        </p:nvSpPr>
        <p:spPr>
          <a:xfrm>
            <a:off x="1280160" y="36576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Payment details</a:t>
            </a:r>
            <a:endParaRPr lang="en-US" sz="1200" dirty="0"/>
          </a:p>
        </p:txBody>
      </p:sp>
      <p:sp>
        <p:nvSpPr>
          <p:cNvPr id="20" name="Endpoint PPI 2"/>
          <p:cNvSpPr txBox="1"/>
          <p:nvPr/>
        </p:nvSpPr>
        <p:spPr>
          <a:xfrm>
            <a:off x="3154680" y="36576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Payment correction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114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PON</a:t>
            </a:r>
            <a:endParaRPr lang="en-US" sz="1200" dirty="0"/>
          </a:p>
        </p:txBody>
      </p:sp>
      <p:sp>
        <p:nvSpPr>
          <p:cNvPr id="22" name="Endpoint PON 1"/>
          <p:cNvSpPr txBox="1"/>
          <p:nvPr/>
        </p:nvSpPr>
        <p:spPr>
          <a:xfrm>
            <a:off x="1280160" y="41148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Onboarding status</a:t>
            </a:r>
            <a:endParaRPr lang="en-US" sz="1200" dirty="0"/>
          </a:p>
        </p:txBody>
      </p:sp>
      <p:sp>
        <p:nvSpPr>
          <p:cNvPr id="23" name="Endpoint PON 2"/>
          <p:cNvSpPr txBox="1"/>
          <p:nvPr/>
        </p:nvSpPr>
        <p:spPr>
          <a:xfrm>
            <a:off x="3154680" y="4114800"/>
            <a:ext cx="178308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Location availability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12 endpoints, each also published as an agent tool</a:t>
            </a:r>
            <a:endParaRPr lang="en-US" sz="1200" dirty="0"/>
          </a:p>
        </p:txBody>
      </p:sp>
      <p:sp>
        <p:nvSpPr>
          <p:cNvPr id="25" name="Guardrails card"/>
          <p:cNvSpPr/>
          <p:nvPr/>
        </p:nvSpPr>
        <p:spPr>
          <a:xfrm>
            <a:off x="5623560" y="1371600"/>
            <a:ext cx="3063240" cy="3337560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06440" y="14813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Built-in guardrails</a:t>
            </a:r>
            <a:endParaRPr lang="en-US" sz="1800" dirty="0"/>
          </a:p>
        </p:txBody>
      </p:sp>
      <p:sp>
        <p:nvSpPr>
          <p:cNvPr id="27" name="Guardrails list"/>
          <p:cNvSpPr txBox="1"/>
          <p:nvPr/>
        </p:nvSpPr>
        <p:spPr>
          <a:xfrm>
            <a:off x="5806440" y="1920240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OAuth2 token on every call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NPI and TIN verified, else nothing disclosed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At most 5 members per eligibility lookup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 response flagged synthetic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1% injected faults, p95 450 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Tool manifest with escalate and never rules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Run it locally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Requires Python 3.10 or later; run each command from the project folder</a:t>
            </a:r>
            <a:endParaRPr lang="en-US" sz="1400" dirty="0"/>
          </a:p>
        </p:txBody>
      </p:sp>
      <p:sp>
        <p:nvSpPr>
          <p:cNvPr id="5" name="Step 1"/>
          <p:cNvSpPr txBox="1"/>
          <p:nvPr/>
        </p:nvSpPr>
        <p:spPr>
          <a:xfrm>
            <a:off x="457200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Unzip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Open a terminal in the folder</a:t>
            </a:r>
            <a:endParaRPr lang="en-US" sz="1200" dirty="0"/>
          </a:p>
        </p:txBody>
      </p:sp>
      <p:sp>
        <p:nvSpPr>
          <p:cNvPr id="6" name="Step 2"/>
          <p:cNvSpPr txBox="1"/>
          <p:nvPr/>
        </p:nvSpPr>
        <p:spPr>
          <a:xfrm>
            <a:off x="2651760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make install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Installs requirements</a:t>
            </a:r>
            <a:endParaRPr lang="en-US" sz="1200" dirty="0"/>
          </a:p>
        </p:txBody>
      </p:sp>
      <p:sp>
        <p:nvSpPr>
          <p:cNvPr id="7" name="Step 3"/>
          <p:cNvSpPr txBox="1"/>
          <p:nvPr/>
        </p:nvSpPr>
        <p:spPr>
          <a:xfrm>
            <a:off x="4846320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make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64 tests should pass</a:t>
            </a:r>
            <a:endParaRPr lang="en-US" sz="1200" dirty="0"/>
          </a:p>
        </p:txBody>
      </p:sp>
      <p:sp>
        <p:nvSpPr>
          <p:cNvPr id="8" name="Step 4"/>
          <p:cNvSpPr txBox="1"/>
          <p:nvPr/>
        </p:nvSpPr>
        <p:spPr>
          <a:xfrm>
            <a:off x="7040880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4  </a:t>
            </a:r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make demo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1,000 members, 3 s</a:t>
            </a:r>
            <a:endParaRPr lang="en-US" sz="1200" dirty="0"/>
          </a:p>
        </p:txBody>
      </p:sp>
      <p:sp>
        <p:nvSpPr>
          <p:cNvPr id="9" name="Arrow row 1-1"/>
          <p:cNvSpPr/>
          <p:nvPr/>
        </p:nvSpPr>
        <p:spPr>
          <a:xfrm>
            <a:off x="2039112" y="1805940"/>
            <a:ext cx="58521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Arrow row 1-2"/>
          <p:cNvSpPr/>
          <p:nvPr/>
        </p:nvSpPr>
        <p:spPr>
          <a:xfrm>
            <a:off x="4233672" y="1805940"/>
            <a:ext cx="58521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Arrow row 1-3"/>
          <p:cNvSpPr/>
          <p:nvPr/>
        </p:nvSpPr>
        <p:spPr>
          <a:xfrm>
            <a:off x="6428232" y="1805940"/>
            <a:ext cx="58521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Arrow to decision"/>
          <p:cNvSpPr/>
          <p:nvPr/>
        </p:nvSpPr>
        <p:spPr>
          <a:xfrm>
            <a:off x="7818120" y="2267712"/>
            <a:ext cx="0" cy="265176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Decision gate"/>
          <p:cNvSpPr txBox="1"/>
          <p:nvPr/>
        </p:nvSpPr>
        <p:spPr>
          <a:xfrm>
            <a:off x="6949440" y="2560320"/>
            <a:ext cx="1737360" cy="1143000"/>
          </a:xfrm>
          <a:prstGeom prst="diamond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passed?</a:t>
            </a:r>
            <a:endParaRPr lang="en-US" sz="1400" dirty="0"/>
          </a:p>
        </p:txBody>
      </p:sp>
      <p:sp>
        <p:nvSpPr>
          <p:cNvPr id="14" name="Arrow yes"/>
          <p:cNvSpPr/>
          <p:nvPr/>
        </p:nvSpPr>
        <p:spPr>
          <a:xfrm flipH="1">
            <a:off x="6336792" y="3131820"/>
            <a:ext cx="58521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6355080" y="28209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16" name="Step 5"/>
          <p:cNvSpPr txBox="1"/>
          <p:nvPr/>
        </p:nvSpPr>
        <p:spPr>
          <a:xfrm>
            <a:off x="4754880" y="269748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  </a:t>
            </a:r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make serve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API on port 8080</a:t>
            </a:r>
            <a:endParaRPr lang="en-US" sz="1200" dirty="0"/>
          </a:p>
        </p:txBody>
      </p:sp>
      <p:sp>
        <p:nvSpPr>
          <p:cNvPr id="17" name="Arrow serve"/>
          <p:cNvSpPr/>
          <p:nvPr/>
        </p:nvSpPr>
        <p:spPr>
          <a:xfrm flipH="1">
            <a:off x="4142232" y="3131820"/>
            <a:ext cx="58521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tep 6"/>
          <p:cNvSpPr txBox="1"/>
          <p:nvPr/>
        </p:nvSpPr>
        <p:spPr>
          <a:xfrm>
            <a:off x="457200" y="2697480"/>
            <a:ext cx="365760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  </a:t>
            </a:r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Call the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Open /docs, request a token, try an endpoint</a:t>
            </a:r>
            <a:endParaRPr lang="en-US" sz="1200" dirty="0"/>
          </a:p>
        </p:txBody>
      </p:sp>
      <p:sp>
        <p:nvSpPr>
          <p:cNvPr id="19" name="Arrow no"/>
          <p:cNvSpPr/>
          <p:nvPr/>
        </p:nvSpPr>
        <p:spPr>
          <a:xfrm>
            <a:off x="7818120" y="3730752"/>
            <a:ext cx="0" cy="265176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7909560" y="3721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21" name="Fix step"/>
          <p:cNvSpPr txBox="1"/>
          <p:nvPr/>
        </p:nvSpPr>
        <p:spPr>
          <a:xfrm>
            <a:off x="6080760" y="4023360"/>
            <a:ext cx="260604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Upgrade fastapi, starlette, httpx, then re-run make test</a:t>
            </a:r>
            <a:endParaRPr lang="en-US" sz="1200" dirty="0"/>
          </a:p>
        </p:txBody>
      </p:sp>
      <p:sp>
        <p:nvSpPr>
          <p:cNvPr id="22" name="Optional card"/>
          <p:cNvSpPr/>
          <p:nvPr/>
        </p:nvSpPr>
        <p:spPr>
          <a:xfrm>
            <a:off x="457200" y="4023360"/>
            <a:ext cx="53035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4023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Optional: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make demo-full builds 50,000 members (about 30 s); make repro checks replay, re-seed and evolve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 Factory">
  <a:themeElements>
    <a:clrScheme name="Health Factory">
      <a:dk1>
        <a:srgbClr val="1B2B34"/>
      </a:dk1>
      <a:lt1>
        <a:srgbClr val="FFFFFF"/>
      </a:lt1>
      <a:dk2>
        <a:srgbClr val="0B3C49"/>
      </a:dk2>
      <a:lt2>
        <a:srgbClr val="E8F3F3"/>
      </a:lt2>
      <a:accent1>
        <a:srgbClr val="028090"/>
      </a:accent1>
      <a:accent2>
        <a:srgbClr val="00A896"/>
      </a:accent2>
      <a:accent3>
        <a:srgbClr val="E07A2F"/>
      </a:accent3>
      <a:accent4>
        <a:srgbClr val="5B7C99"/>
      </a:accent4>
      <a:accent5>
        <a:srgbClr val="8FB8B5"/>
      </a:accent5>
      <a:accent6>
        <a:srgbClr val="C8553D"/>
      </a:accent6>
      <a:hlink>
        <a:srgbClr val="028090"/>
      </a:hlink>
      <a:folHlink>
        <a:srgbClr val="5B7C99"/>
      </a:folHlink>
    </a:clrScheme>
    <a:fontScheme name="Health Fact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AI Platform Factory: Phase 1</dc:title>
  <dc:subject>PptxGenJS Presentation</dc:subject>
  <dc:creator>PptxGenJS</dc:creator>
  <cp:lastModifiedBy>PptxGenJS</cp:lastModifiedBy>
  <cp:revision>1</cp:revision>
  <dcterms:created xsi:type="dcterms:W3CDTF">2026-10-18T19:53:38Z</dcterms:created>
  <dcterms:modified xsi:type="dcterms:W3CDTF">2026-10-18T19:53:38Z</dcterms:modified>
</cp:coreProperties>
</file>